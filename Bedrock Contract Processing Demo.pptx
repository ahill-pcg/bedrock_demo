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2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560"/>
    <p:restoredTop sz="54043"/>
  </p:normalViewPr>
  <p:slideViewPr>
    <p:cSldViewPr snapToGrid="0">
      <p:cViewPr>
        <p:scale>
          <a:sx n="47" d="100"/>
          <a:sy n="47" d="100"/>
        </p:scale>
        <p:origin x="140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208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B52AE5-9552-554A-885B-BC47416F6217}" type="datetimeFigureOut">
              <a:rPr lang="en-US" smtClean="0"/>
              <a:t>2/24/26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73DA0B-CD93-4244-955D-07F96432F4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043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4544667"/>
          </a:xfrm>
        </p:spPr>
        <p:txBody>
          <a:bodyPr/>
          <a:lstStyle/>
          <a:p>
            <a:r>
              <a:rPr lang="en-US" b="1" dirty="0"/>
              <a:t>Extraction Prompt – High Level</a:t>
            </a:r>
          </a:p>
          <a:p>
            <a:r>
              <a:rPr lang="en-US" b="1" dirty="0" err="1"/>
              <a:t>Purpose:</a:t>
            </a:r>
            <a:r>
              <a:rPr lang="en-US" dirty="0" err="1"/>
              <a:t>Use</a:t>
            </a:r>
            <a:r>
              <a:rPr lang="en-US" dirty="0"/>
              <a:t> AI vision (Bedrock/Claude) to read contract PDFs and pull structured JSON from form </a:t>
            </a:r>
            <a:r>
              <a:rPr lang="en-US" dirty="0" err="1"/>
              <a:t>fields.</a:t>
            </a:r>
            <a:r>
              <a:rPr lang="en-US" b="1" dirty="0" err="1"/>
              <a:t>Flow:Config-driven</a:t>
            </a:r>
            <a:r>
              <a:rPr lang="en-US" b="1" dirty="0"/>
              <a:t> fields</a:t>
            </a:r>
            <a:r>
              <a:rPr lang="en-US" dirty="0"/>
              <a:t> – Field list comes from DynamoDB (config per client/contract type).</a:t>
            </a:r>
          </a:p>
          <a:p>
            <a:r>
              <a:rPr lang="en-US" b="1" dirty="0"/>
              <a:t>PDF → Images</a:t>
            </a:r>
            <a:r>
              <a:rPr lang="en-US" dirty="0"/>
              <a:t> – Each page is converted to PNG and sent to the vision model.</a:t>
            </a:r>
          </a:p>
          <a:p>
            <a:r>
              <a:rPr lang="en-US" b="1" dirty="0"/>
              <a:t>Main </a:t>
            </a:r>
            <a:r>
              <a:rPr lang="en-US" b="1" dirty="0" err="1"/>
              <a:t>instructions:</a:t>
            </a:r>
            <a:r>
              <a:rPr lang="en-US" dirty="0" err="1"/>
              <a:t>Extract</a:t>
            </a:r>
            <a:r>
              <a:rPr lang="en-US" dirty="0"/>
              <a:t> all configured fields; use null if not found.</a:t>
            </a:r>
          </a:p>
          <a:p>
            <a:r>
              <a:rPr lang="en-US" dirty="0"/>
              <a:t>Use </a:t>
            </a:r>
            <a:r>
              <a:rPr lang="en-US" b="1" dirty="0" err="1"/>
              <a:t>lowercase_with_underscores</a:t>
            </a:r>
            <a:r>
              <a:rPr lang="en-US" dirty="0"/>
              <a:t>.</a:t>
            </a:r>
          </a:p>
          <a:p>
            <a:r>
              <a:rPr lang="en-US" dirty="0"/>
              <a:t>Use </a:t>
            </a:r>
            <a:r>
              <a:rPr lang="en-US" b="1" dirty="0"/>
              <a:t>one canonical field</a:t>
            </a:r>
            <a:r>
              <a:rPr lang="en-US" dirty="0"/>
              <a:t> per concept (e.g., VIN / vehicle ID / vehicle identification number → vin).</a:t>
            </a:r>
          </a:p>
          <a:p>
            <a:r>
              <a:rPr lang="en-US" dirty="0"/>
              <a:t>Do not duplicate the same value under different keys.</a:t>
            </a:r>
          </a:p>
          <a:p>
            <a:r>
              <a:rPr lang="en-US" dirty="0"/>
              <a:t>Output strict JSON only.</a:t>
            </a:r>
          </a:p>
          <a:p>
            <a:r>
              <a:rPr lang="en-US" b="1" dirty="0"/>
              <a:t>Special rules (e.g., sone / RIC forms):Application number</a:t>
            </a:r>
            <a:r>
              <a:rPr lang="en-US" dirty="0"/>
              <a:t> – Handle variants like “app#”, “App No”, etc., especially when handwritten.</a:t>
            </a:r>
          </a:p>
          <a:p>
            <a:r>
              <a:rPr lang="en-US" b="1" dirty="0"/>
              <a:t>Signature fields</a:t>
            </a:r>
            <a:r>
              <a:rPr lang="en-US" dirty="0"/>
              <a:t> – Mark true/false if a signature is present in that section.</a:t>
            </a:r>
          </a:p>
          <a:p>
            <a:r>
              <a:rPr lang="en-US" b="1" dirty="0"/>
              <a:t>Premium/currency</a:t>
            </a:r>
            <a:r>
              <a:rPr lang="en-US" dirty="0"/>
              <a:t> – Extract only dollar amounts; do not put names or other text into premium fields.</a:t>
            </a:r>
          </a:p>
          <a:p>
            <a:br>
              <a:rPr lang="en-US" dirty="0"/>
            </a:br>
            <a:r>
              <a:rPr lang="en-US" b="1" dirty="0"/>
              <a:t>Bullet-point version for </a:t>
            </a:r>
            <a:r>
              <a:rPr lang="en-US" b="1" dirty="0" err="1"/>
              <a:t>slides:</a:t>
            </a:r>
            <a:r>
              <a:rPr lang="en-US" dirty="0" err="1"/>
              <a:t>Config-driven</a:t>
            </a:r>
            <a:r>
              <a:rPr lang="en-US" dirty="0"/>
              <a:t> field list (DynamoDB)</a:t>
            </a:r>
          </a:p>
          <a:p>
            <a:r>
              <a:rPr lang="en-US" dirty="0"/>
              <a:t>PDF pages converted to images</a:t>
            </a:r>
          </a:p>
          <a:p>
            <a:r>
              <a:rPr lang="en-US" dirty="0"/>
              <a:t>Vision AI extracts structured JSON</a:t>
            </a:r>
          </a:p>
          <a:p>
            <a:r>
              <a:rPr lang="en-US" dirty="0"/>
              <a:t>Canonical field names, no duplicates</a:t>
            </a:r>
          </a:p>
          <a:p>
            <a:r>
              <a:rPr lang="en-US" dirty="0"/>
              <a:t>Handles handwritten / variant labels</a:t>
            </a:r>
          </a:p>
          <a:p>
            <a:r>
              <a:rPr lang="en-US" dirty="0"/>
              <a:t>Signature presence and premium-only rules for RIC forms</a:t>
            </a:r>
          </a:p>
          <a:p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3DA0B-CD93-4244-955D-07F96432F42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8879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Extraction Prompt – High Level</a:t>
            </a: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Purpose: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AI vision (Bedrock/Claude) to read contract PDFs and pull structured JSON from form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Flow:Config-driven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fields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 Field list comes from DynamoDB (config per client/contract type).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PDF → Images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 Each page is converted to PNG and sent to the vision model.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instructions: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Extract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all configured fields; use null if not found.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 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lowercase_with_underscores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 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canonical field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per concept (e.g., VIN / vehicle ID / vehicle identification number → vin).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 not duplicate the same value under different keys.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Output strict JSON only.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Special rules (e.g., sone / RIC forms):Application number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 Handle variants like “app#”, “App No”, etc., especially when handwritten.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Signature fields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 Mark true/false if a signature is present in that section.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Premium/currency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 Extract only dollar amounts; do not put names or other text into premium fields.</a:t>
            </a:r>
          </a:p>
          <a:p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Bullet-point version for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slides: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Config-driven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field list (DynamoDB)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PDF pages converted to images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Vision AI extracts structured JSON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Canonical field names, no duplicates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Handles handwritten / variant labels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Signature presence and premium-only rules for RIC forms</a:t>
            </a:r>
          </a:p>
          <a:p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3DA0B-CD93-4244-955D-07F96432F42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5058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3DA0B-CD93-4244-955D-07F96432F42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3039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E1FA5-DC1B-0FA8-4BB2-2AEA5C523F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417BAD-35EA-A6AD-51FD-8AD9647AE4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A2AFC-595C-AAED-729A-456B2CFEF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74305-7D40-204A-9D40-552DB65F738B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187116-6310-C04D-AF00-BB9A3753C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7DC9CF-4ECA-34A0-E338-A858B1BCB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FD4A8-5393-894F-9262-C2DEC6777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584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A104E-62F5-D779-01D4-30F121D51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F001E-F619-BB6F-4BC3-84F00B483D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B8EB09-1F4D-0CBC-C77A-239BA5A96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74305-7D40-204A-9D40-552DB65F738B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7534F-B99C-AEDD-CE6C-2D9AE417A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ED6117-27BE-A8EC-8374-36E7A6C4B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FD4A8-5393-894F-9262-C2DEC6777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742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BA724-180D-DE14-A198-6C204D0FF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421C54-3163-0F6F-F00B-26B5D0389E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3202E-8E39-441E-A953-DD614DACE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74305-7D40-204A-9D40-552DB65F738B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194A2-094E-9CB8-4245-AD30A9D97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17BC2E-FEB1-323D-E78F-CD43732C9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FD4A8-5393-894F-9262-C2DEC6777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864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C2334-E691-BF8A-E439-A02B5EBE0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3DC2D-333F-8919-F493-67CD5C57B8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8A6615-D84C-1DF7-D305-54006FF9CC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14C982-D476-81C7-11C5-512CB8749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74305-7D40-204A-9D40-552DB65F738B}" type="datetimeFigureOut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240E78-DC66-C64E-08FF-C4DD7865A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29A289-6ACA-3CF6-AC59-70B71E3F9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FD4A8-5393-894F-9262-C2DEC6777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240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7B2AF-D731-9C57-4193-8239B028E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A00545-674B-CC06-9337-DCF49CB17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DA9568-3BDD-0F1E-43F1-C5767FE41D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47A3E0-5109-0B66-A1EE-6082FA1957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C16EBC-6945-2F08-FCAE-1ACB7694C1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28F7BF-CB50-7554-1982-BE931D445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74305-7D40-204A-9D40-552DB65F738B}" type="datetimeFigureOut">
              <a:rPr lang="en-US" smtClean="0"/>
              <a:t>2/24/26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86107E-1DE0-B9AB-F18A-AEF05EE75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05DADE-F6C7-0F55-6277-CB854BC93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FD4A8-5393-894F-9262-C2DEC6777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55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F7611-D79B-4515-EA72-791241A00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E5C35F-0AC3-256B-6251-ABD5B94CA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74305-7D40-204A-9D40-552DB65F738B}" type="datetimeFigureOut">
              <a:rPr lang="en-US" smtClean="0"/>
              <a:t>2/24/26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BE6D69-7D35-1289-232C-89CC36AAE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8DB0E6-2915-933D-0A28-F9666017D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FD4A8-5393-894F-9262-C2DEC6777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008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4BD096-9F2F-B753-6905-B67401401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74305-7D40-204A-9D40-552DB65F738B}" type="datetimeFigureOut">
              <a:rPr lang="en-US" smtClean="0"/>
              <a:t>2/24/26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E75F8F-13B6-ABC9-D470-369ACC1A9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B8087C-7336-2810-B391-0D3746FAE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FD4A8-5393-894F-9262-C2DEC6777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20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853B9-5ECE-FDB7-EB1C-45B7EE347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F8058-2CE3-1DC0-4A19-D5259745B7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88C6E-D047-BE4F-9D92-F8B2C9A4AF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9ACEFC-E4BC-D13B-E41E-0C5346602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74305-7D40-204A-9D40-552DB65F738B}" type="datetimeFigureOut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F94481-3C23-3A9D-DB5F-0444CE07D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D9C081-587E-97DB-C596-E1F427ADC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FD4A8-5393-894F-9262-C2DEC6777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081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EC9-E9EF-EDDF-7CF0-3F51B9DA0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B2E1A6-361B-BB03-76D6-A81A0B68AC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ED9855-DBCA-CBDF-523C-001D07D021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62CF87-9868-09D4-29B6-06880B9DC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74305-7D40-204A-9D40-552DB65F738B}" type="datetimeFigureOut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F9A9C6-C6D0-A2BB-CDC9-37BA1C8D0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359156-D16E-EA17-F1BF-1DD9947C3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FD4A8-5393-894F-9262-C2DEC6777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709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F3401-F2D4-E387-F376-02AC791C3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14B948-52FD-F1A3-D583-E0A08C846D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B7C66-1298-9B27-7446-FB8AC0BC1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74305-7D40-204A-9D40-552DB65F738B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E9F74-FA79-1E87-4BC3-8494F9F48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DD8D32-EBE9-80AE-BFEB-C448C928C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FD4A8-5393-894F-9262-C2DEC6777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009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64CA8C-1BDE-4863-B385-2B83FCE21B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E4FCDB-CAD3-8198-B308-DC568E9C15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D81DC7-B95F-0A48-D8EB-FBFC3811A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74305-7D40-204A-9D40-552DB65F738B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6E8412-B7D3-CCBA-B04F-7F306E7D5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CBFFF4-BC0B-6217-3B1F-BED833E67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FD4A8-5393-894F-9262-C2DEC6777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200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DED1D-6BF1-7F5E-2118-56A5A32C9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4F7FD1-83AE-0B55-4DA3-740569AEF0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98BE4-8EB8-8263-F340-DF7A6A6A65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274305-7D40-204A-9D40-552DB65F738B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4AFEA7-B912-55FB-C97C-7CD391562E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16EE1C-FF04-3315-BDD5-C246EA6712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2FD4A8-5393-894F-9262-C2DEC6777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58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3FC93C-D95B-A87D-A6A9-A02215A84D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0430" y="583345"/>
            <a:ext cx="7160357" cy="4164820"/>
          </a:xfrm>
        </p:spPr>
        <p:txBody>
          <a:bodyPr anchor="t">
            <a:normAutofit/>
          </a:bodyPr>
          <a:lstStyle/>
          <a:p>
            <a:pPr algn="r"/>
            <a:r>
              <a:rPr lang="en-US" sz="8000">
                <a:solidFill>
                  <a:srgbClr val="FFFFFF"/>
                </a:solidFill>
              </a:rPr>
              <a:t>Bedrock Demo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4CFBC6-7BE1-1039-5EA5-4EFE7E614B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8228" y="5972174"/>
            <a:ext cx="8578699" cy="504825"/>
          </a:xfrm>
        </p:spPr>
        <p:txBody>
          <a:bodyPr>
            <a:normAutofit/>
          </a:bodyPr>
          <a:lstStyle/>
          <a:p>
            <a:pPr algn="l"/>
            <a:r>
              <a:rPr lang="en-US" sz="2000">
                <a:solidFill>
                  <a:srgbClr val="FFFFFF"/>
                </a:solidFill>
              </a:rPr>
              <a:t>Document Ingesting and Comparison</a:t>
            </a: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0212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6B3D8F-4EBB-3BF2-8629-BF5B17A0B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en-US" sz="5600">
                <a:solidFill>
                  <a:srgbClr val="FFFFFF"/>
                </a:solidFill>
              </a:rPr>
              <a:t>The program flow</a:t>
            </a: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276D1-00A7-4375-C17D-08632BF955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Automation sends file s3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S3/Lambda Trigger calls function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Function calls bedrock model to OCR data into Json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Checks if record exists, inserts or updates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Function prompts model to compare data to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db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 data if present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If loan number not found, then insert a record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When updating, if duplicate, adds new fields it finds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If loan found compare data from contract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Create report</a:t>
            </a: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014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AEDDCF-F541-1AF3-AC29-606ABAC13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br>
              <a:rPr lang="en-US" sz="5600">
                <a:solidFill>
                  <a:srgbClr val="FFFFFF"/>
                </a:solidFill>
              </a:rPr>
            </a:br>
            <a:r>
              <a:rPr lang="en-US" sz="5600" b="1">
                <a:solidFill>
                  <a:srgbClr val="FFFFFF"/>
                </a:solidFill>
                <a:effectLst/>
              </a:rPr>
              <a:t>Extraction prompt</a:t>
            </a:r>
            <a:br>
              <a:rPr lang="en-US" sz="5600" b="1">
                <a:solidFill>
                  <a:srgbClr val="FFFFFF"/>
                </a:solidFill>
                <a:effectLst/>
              </a:rPr>
            </a:br>
            <a:endParaRPr lang="en-US" sz="5600">
              <a:solidFill>
                <a:srgbClr val="FFFFFF"/>
              </a:solidFill>
            </a:endParaRP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D65D8C-99F4-2FA2-7B36-8DB8270E48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1"/>
            <a:ext cx="4771607" cy="5742190"/>
          </a:xfrm>
        </p:spPr>
        <p:txBody>
          <a:bodyPr anchor="ctr">
            <a:normAutofit/>
          </a:bodyPr>
          <a:lstStyle/>
          <a:p>
            <a:r>
              <a:rPr lang="en-US" dirty="0"/>
              <a:t>Config-driven field list (DynamoDB)</a:t>
            </a:r>
          </a:p>
          <a:p>
            <a:r>
              <a:rPr lang="en-US" dirty="0"/>
              <a:t>PDF pages converted to images</a:t>
            </a:r>
          </a:p>
          <a:p>
            <a:r>
              <a:rPr lang="en-US" dirty="0"/>
              <a:t>Vision AI extracts structured JSON</a:t>
            </a:r>
          </a:p>
          <a:p>
            <a:r>
              <a:rPr lang="en-US" dirty="0"/>
              <a:t>Canonical field names, no duplicates</a:t>
            </a:r>
          </a:p>
          <a:p>
            <a:r>
              <a:rPr lang="en-US" dirty="0"/>
              <a:t>Handles handwritten / variant labels</a:t>
            </a:r>
          </a:p>
          <a:p>
            <a:r>
              <a:rPr lang="en-US" dirty="0"/>
              <a:t>Signature presence and premium-only rules for RIC forms</a:t>
            </a:r>
          </a:p>
          <a:p>
            <a:endParaRPr lang="en-US" sz="1700" dirty="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5275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934BB4-C7A5-56FD-73FB-05A4BFDC6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en-US" sz="5200" b="1">
                <a:solidFill>
                  <a:srgbClr val="FFFFFF"/>
                </a:solidFill>
              </a:rPr>
              <a:t>Comparison prompt</a:t>
            </a:r>
            <a:endParaRPr lang="en-US" sz="5200">
              <a:solidFill>
                <a:srgbClr val="FFFFFF"/>
              </a:solidFill>
            </a:endParaRP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B1CDE-C902-513B-9BEE-8D06505F62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en-US" dirty="0"/>
              <a:t>Compares extracted document data vs. existing database record</a:t>
            </a:r>
          </a:p>
          <a:p>
            <a:r>
              <a:rPr lang="en-US" dirty="0"/>
              <a:t>Returns match (true/false) and list of differing fields</a:t>
            </a:r>
          </a:p>
          <a:p>
            <a:r>
              <a:rPr lang="en-US" dirty="0"/>
              <a:t>Normalizes before comparing: currency, dates, whitespace, case, placeholders, phones</a:t>
            </a:r>
          </a:p>
          <a:p>
            <a:r>
              <a:rPr lang="en-US" dirty="0"/>
              <a:t>Only flags real differences, not formatting differences</a:t>
            </a:r>
          </a:p>
          <a:p>
            <a:endParaRPr lang="en-US" sz="1400" dirty="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9263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723358-67A5-4A73-54B9-B5B835118B54}"/>
              </a:ext>
            </a:extLst>
          </p:cNvPr>
          <p:cNvSpPr txBox="1"/>
          <p:nvPr/>
        </p:nvSpPr>
        <p:spPr>
          <a:xfrm>
            <a:off x="556532" y="643467"/>
            <a:ext cx="11210925" cy="744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Sample Contract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CBB242C-ADC6-4A45-1958-78DAFA38CD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4248" y="1675227"/>
            <a:ext cx="4163503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07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75B5C8-C630-2D30-916F-62E5CCE0D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Sample Report Output (Insert/Update/Compare)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3EBF6FA-648B-52CF-73EF-F79A1D5464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0527" y="1675227"/>
            <a:ext cx="9250946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114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CF4D7E-0B28-CC45-707B-54D157E1F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DynamoDB Table Record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E40B5B8-56E1-EF39-97D7-211E55992E00}"/>
              </a:ext>
            </a:extLst>
          </p:cNvPr>
          <p:cNvSpPr txBox="1"/>
          <p:nvPr/>
        </p:nvSpPr>
        <p:spPr>
          <a:xfrm>
            <a:off x="387927" y="2780068"/>
            <a:ext cx="5303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Show table schema in viewer</a:t>
            </a:r>
          </a:p>
        </p:txBody>
      </p:sp>
    </p:spTree>
    <p:extLst>
      <p:ext uri="{BB962C8B-B14F-4D97-AF65-F5344CB8AC3E}">
        <p14:creationId xmlns:p14="http://schemas.microsoft.com/office/powerpoint/2010/main" val="1207924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1E0A22E-4E4A-954B-AC8B-17EFA25423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281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D06754-62E9-9B6C-755C-1C984FA2F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Cost estimates (from PCG AWS Account)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4E61F1B-2C2D-8555-2CC1-71537FA594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50398" y="1675227"/>
            <a:ext cx="8491204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9762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CACDE9-E773-51AA-3749-911FD4339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Cost estimates continued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1FE5111-58EB-3E6E-B215-39B92BCA36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2468299"/>
            <a:ext cx="10905066" cy="280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9690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6066</TotalTime>
  <Words>654</Words>
  <Application>Microsoft Macintosh PowerPoint</Application>
  <PresentationFormat>Widescreen</PresentationFormat>
  <Paragraphs>69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Bedrock Demo</vt:lpstr>
      <vt:lpstr>The program flow</vt:lpstr>
      <vt:lpstr> Extraction prompt </vt:lpstr>
      <vt:lpstr>Comparison prompt</vt:lpstr>
      <vt:lpstr>PowerPoint Presentation</vt:lpstr>
      <vt:lpstr>Sample Report Output (Insert/Update/Compare)</vt:lpstr>
      <vt:lpstr>DynamoDB Table Record</vt:lpstr>
      <vt:lpstr>PowerPoint Presentation</vt:lpstr>
      <vt:lpstr>Cost estimates (from PCG AWS Account)</vt:lpstr>
      <vt:lpstr>Cost estimates continued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Marshall Hill</dc:creator>
  <cp:lastModifiedBy>Marshall Hill</cp:lastModifiedBy>
  <cp:revision>5</cp:revision>
  <dcterms:created xsi:type="dcterms:W3CDTF">2026-02-15T21:05:45Z</dcterms:created>
  <dcterms:modified xsi:type="dcterms:W3CDTF">2026-02-25T14:38:10Z</dcterms:modified>
</cp:coreProperties>
</file>